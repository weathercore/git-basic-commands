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Git基本命令大全速查。这是一份涵盖三十多个核心命令的完整手册，从版本控制的初始化到团队协作的远程操作，覆盖了日常开发的绝大多数场景。无论你是Git初学者还是需要快速查阅命令的资深开发者，这份速查手册都能帮你快速定位所需命令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命令可以按照功能分为八大类别。工作流管理负责文件的添加和删除；提交管理用于创建提交和配置设置；历史查看帮助你追溯项目演进；分支管理让你并行开发不同功能；远程协作支持团队同步代码；合并与选择帮助整合不同分支的工作；撤销操作让你在犯错时从容回退；状态查询则让你随时掌握当前工作区的状态。理解这个分类框架，能帮助你更快找到需要的命令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add 是工作的起点。git add 点号会添加当前目录下所有改动的文件；git add dir 会添加指定目录下的所有文件；git add 后面跟文件名则只添加指定文件。如果你不小心添加了文件，可以用 git reset HEAD 来撤销暂存。git rm 用于删除文件，其中 git rm cached 只从暂存区移除而保留工作目录中的文件，这在你想取消跟踪某个文件时非常有用。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log 是查看历史的窗口。加上 oneline 参数可以简洁显示，每条提交占一行；graph 参数用图形方式展示分支合并历史；stat 参数显示每次提交的文件修改统计。你还可以用 author、since 和 grep 等过滤器精准定位目标提交。git show 则用于查看某个提交的详细信息，包括它改了哪些文件和具体改了什么内容。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blame 可以精确到每一行代码，告诉你这行是谁在什么时候写的。它在代码审查和追踪bug引入时非常有用。git reflog 则是操作失误的"时间机器"，它记录了HEAD的每一步移动。即使你不小心用了 reset hard 丢失了提交，只要还没过期，reflog 都能帮你找回来。两者配合使用，让你在代码世界中永远不会迷路。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branch 用于管理分支。不带参数会列出所有本地分支；加上分支名会创建新分支；减d参数删除分支；减m参数重命名分支。git switch 是现代的分支切换命令，职责更清晰：减c参数创建并切换到新分支；单独的减号可以切换回上一个分支。推荐日常切换用 switch，需要恢复文件时用 checkout。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checkout 是Git中的经典命令，功能很多但容易混淆。它可以切换分支、创建新分支、恢复文件、甚至回到历史提交。git restore 是现代的文件恢复命令，专门用于替代 checkout 的文件恢复功能。两者配合使用：switch 负责分支切换，restore 负责文件恢复，各司其职，语义更清晰。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cherry-pick 让你只取特定修改而不引入整条分支的历史。比如你只想从feature分支取某个bugfix，不想合并整条分支，cherry-pick就是最佳选择。它可以搬运单个提交、多个提交，甚至一个范围内的提交。如果遇到冲突，用 continue 参数解决后继续；用 abort 取消整个操作。注意cherry-pick创建的是新提交，commit ID会改变。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clone 用于获取远程仓库的完整副本。浅克隆 depth 1 只取最新提交，适合CI/CD场景，能大幅减少下载时间。git remote 用于管理远程仓库连接，origin 是默认的远程名。你可以配置多个远程仓库，用 set-url 切换HTTPS和SSH协议，用 add 添加新的远程仓库。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push 送出你的成果到远程仓库，git pull 获取他人的改动到本地。减u参数可以在推送的同时设置跟踪关系，这样以后只需要简单地 git push 就行了。git pull 加 rebase 参数可以保持线性历史更整洁，而不是创建合并提交。注意 force 参数会覆盖远程历史，在团队协作中一定要慎用。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fetch 只下载远程更新但不合并，让你先看看有什么变化再决定是否合入。git merge 则真正将分支合入当前分支。no-ff参数会强制创建合并提交，保留分支历史；squash参数将所有更改压缩为一个提交。遇到冲突时，ours参数优先保留当前分支内容，theirs参数优先使用对方分支内容。公共分支用merge，个人分支用rebase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reset 有三种模式：soft保留暂存和工作目录；mixed是默认模式，保留工作目录但清空暂存区；hard会清空所有更改，一定要慎用。git revert 则创建一个新提交来撤销指定提交的改动，它不改写历史，适合已推送到远程的提交。选择reset还是revert，取决于是否需要保留协作历史。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mv 用于移动或重命名被Git跟踪的文件，它等同于手动移动加上git add，但更可靠，因为它能自动记录重命名操作。git shortlog 用于生成提交摘要统计，可以按作者分组显示提交数量，非常适合查看团队贡献排名和版本发布统计。用减sn参数加上HEAD可以快速查看项目贡献排名。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status 是最常用的命令之一，它告诉你当前工作区的状态：哪些文件已暂存、哪些已修改、哪些未被跟踪。减s参数用简洁格式显示，更易于快速浏览。git ls-files 则从Git索引的角度查看文件，它可以列出被跟踪的文件、未跟踪的文件、被忽略的文件等。两者视角不同，互为补充。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stash 像一个时间机器，当你当前的工作被打断时，可以优雅地保存进度。保存时加上描述信息，方便以后找回；list查看所有保存；apply恢复但保留保存记录；pop恢复并删除保存记录。stash像一个栈，后进先出，可以保存多份。branch参数可以在新分支上应用保存的修改，这在你需要基于stash创建新分支时非常方便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tag 是给某个提交颁发"纪念章"，常用于标记版本发布。轻量标签只指向一个提交，注释标签还可以包含描述信息。标签是固定的，不像分支会移动，始终指向同一个提交。推送标签到远程用push origin加上标签名；删除远程标签用push origin加上冒号和refs/tags路径。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git whatchanged 比 log 更适合查看文件变化，它能显示每次提交改了哪些文件。学习Git建议按照四个阶段循序渐进：先掌握基础操作如init、add、commit、log；再学习分支策略如branch、checkout、merge；然后掌握远程协作如remote、push、pull、fetch；最后学习高级调试如stash、reflog、blame。掌握这三十多个命令，就能覆盖日常开发的绝大多数场景。持续练习，不断精进，Git是你最可靠的版本控制伙伴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Git基本命令大全速查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Git基本命令大全速查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477250" y="190500"/>
            <a:ext cx="3048000" cy="3048000"/>
          </a:xfrm>
          <a:prstGeom prst="ellipse">
            <a:avLst/>
          </a:prstGeom>
          <a:solidFill>
            <a:schemeClr val="accent1">
              <a:alpha val="12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334500" y="952500"/>
            <a:ext cx="1905000" cy="1905000"/>
          </a:xfrm>
          <a:prstGeom prst="ellipse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4381500"/>
            <a:ext cx="2286000" cy="2286000"/>
          </a:xfrm>
          <a:prstGeom prst="ellipse">
            <a:avLst/>
          </a:prstGeom>
          <a:solidFill>
            <a:schemeClr val="accent3">
              <a:alpha val="8000"/>
            </a:scheme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952500" y="1143000"/>
            <a:ext cx="6667500" cy="3810000"/>
            <a:chOff x="952500" y="1143000"/>
            <a:chExt cx="6667500" cy="3810000"/>
          </a:xfrm>
        </p:grpSpPr>
        <p:sp>
          <p:nvSpPr>
            <p:cNvPr id="5" name="Rectangle 5"/>
            <p:cNvSpPr/>
            <p:nvPr/>
          </p:nvSpPr>
          <p:spPr>
            <a:xfrm>
              <a:off x="952500" y="1143000"/>
              <a:ext cx="6667500" cy="38100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  <a:effectLst>
              <a:outerShdw blurRad="152400" dist="3810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6" name="TextBox 6"/>
            <p:cNvSpPr txBox="1"/>
            <p:nvPr/>
          </p:nvSpPr>
          <p:spPr>
            <a:xfrm>
              <a:off x="1504950" y="1769745"/>
              <a:ext cx="548630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1"/>
                  </a:solidFill>
                  <a:latin typeface="Montserrat"/>
                  <a:ea typeface="Microsoft YaHei"/>
                  <a:cs typeface="Montserrat"/>
                </a:rPr>
                <a:t>Git 基本命令大全速查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14094" y="2646998"/>
              <a:ext cx="39836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6B7280"/>
                  </a:solidFill>
                  <a:latin typeface="Montserrat"/>
                  <a:ea typeface="Microsoft YaHei"/>
                  <a:cs typeface="Montserrat"/>
                </a:rPr>
                <a:t>从入门到精通 · 30+ 核心命令速记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16380" y="336232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CA3AF"/>
                  </a:solidFill>
                  <a:latin typeface="Montserrat"/>
                  <a:ea typeface="Microsoft YaHei"/>
                  <a:cs typeface="Montserrat"/>
                </a:rPr>
                <a:t>版本控制全流程覆盖 · 开发者必备手册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572500" y="2476500"/>
            <a:ext cx="2057400" cy="1524000"/>
            <a:chOff x="8572500" y="2476500"/>
            <a:chExt cx="2057400" cy="1524000"/>
          </a:xfrm>
        </p:grpSpPr>
        <p:sp>
          <p:nvSpPr>
            <p:cNvPr id="10" name="Ellipse 10"/>
            <p:cNvSpPr/>
            <p:nvPr/>
          </p:nvSpPr>
          <p:spPr>
            <a:xfrm>
              <a:off x="8572500" y="3048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8953500" y="3238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9525000" y="2476500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525000" y="361950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Line 14"/>
            <p:cNvSpPr/>
            <p:nvPr/>
          </p:nvSpPr>
          <p:spPr>
            <a:xfrm>
              <a:off x="9525000" y="2667000"/>
              <a:ext cx="190500" cy="571500"/>
            </a:xfrm>
            <a:custGeom>
              <a:avLst/>
              <a:gdLst/>
              <a:ahLst/>
              <a:cxnLst/>
              <a:rect l="l" t="t" r="r" b="b"/>
              <a:pathLst>
                <a:path w="190500" h="571500">
                  <a:moveTo>
                    <a:pt x="0" y="571500"/>
                  </a:moveTo>
                  <a:lnTo>
                    <a:pt x="1905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525000" y="3238500"/>
              <a:ext cx="190500" cy="571500"/>
            </a:xfrm>
            <a:custGeom>
              <a:avLst/>
              <a:gdLst/>
              <a:ahLst/>
              <a:cxnLst/>
              <a:rect l="l" t="t" r="r" b="b"/>
              <a:pathLst>
                <a:path w="190500" h="571500">
                  <a:moveTo>
                    <a:pt x="0" y="0"/>
                  </a:moveTo>
                  <a:lnTo>
                    <a:pt x="190500" y="5715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325100" y="25146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325100" y="365760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9906000" y="2667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906000" y="3810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5101209" y="636365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Montserrat"/>
                <a:ea typeface="Microsoft YaHei"/>
                <a:cs typeface="Montserrat"/>
              </a:rPr>
              <a:t>适合开发者日常查阅与团队培训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74065" y="232410"/>
            <a:ext cx="224386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chemeClr val="dk1"/>
                </a:solidFill>
                <a:latin typeface="Arial"/>
                <a:ea typeface="Microsoft YaHei"/>
                <a:cs typeface="Arial"/>
              </a:rPr>
              <a:t>Git 命令总览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43907" y="680085"/>
            <a:ext cx="21041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8 大功能分类 · 30+ 核心命令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71500" y="1047750"/>
            <a:ext cx="2667000" cy="1619250"/>
            <a:chOff x="571500" y="1047750"/>
            <a:chExt cx="2667000" cy="1619250"/>
          </a:xfrm>
        </p:grpSpPr>
        <p:sp>
          <p:nvSpPr>
            <p:cNvPr id="4" name="Rectangle 4"/>
            <p:cNvSpPr/>
            <p:nvPr/>
          </p:nvSpPr>
          <p:spPr>
            <a:xfrm>
              <a:off x="571500" y="1047750"/>
              <a:ext cx="2667000" cy="1619250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8957" y="124968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142" y="133064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工作流管理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04291" y="1648778"/>
              <a:ext cx="10708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git add · git rm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04672" y="1894999"/>
              <a:ext cx="13687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暂存 · 删除 · 撤销添加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429000" y="1047750"/>
            <a:ext cx="2667000" cy="1619250"/>
            <a:chOff x="3429000" y="1047750"/>
            <a:chExt cx="2667000" cy="1619250"/>
          </a:xfrm>
        </p:grpSpPr>
        <p:sp>
          <p:nvSpPr>
            <p:cNvPr id="10" name="Rectangle 10"/>
            <p:cNvSpPr/>
            <p:nvPr/>
          </p:nvSpPr>
          <p:spPr>
            <a:xfrm>
              <a:off x="3429000" y="1047750"/>
              <a:ext cx="2667000" cy="1619250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656457" y="124968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93642" y="13306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提交管理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61791" y="1648778"/>
              <a:ext cx="1572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git commit · git config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62172" y="1894999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创建提交 · 配置设置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86500" y="1047750"/>
            <a:ext cx="2667000" cy="1619250"/>
            <a:chOff x="6286500" y="1047750"/>
            <a:chExt cx="2667000" cy="1619250"/>
          </a:xfrm>
        </p:grpSpPr>
        <p:sp>
          <p:nvSpPr>
            <p:cNvPr id="16" name="Rectangle 16"/>
            <p:cNvSpPr/>
            <p:nvPr/>
          </p:nvSpPr>
          <p:spPr>
            <a:xfrm>
              <a:off x="6286500" y="1047750"/>
              <a:ext cx="2667000" cy="1619250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13957" y="124968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51142" y="13306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历史查看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19291" y="1648778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git log · git show · blame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19672" y="1894999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提交记录 · 逐行溯源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2857500"/>
            <a:ext cx="2667000" cy="1619250"/>
            <a:chOff x="571500" y="2857500"/>
            <a:chExt cx="2667000" cy="1619250"/>
          </a:xfrm>
        </p:grpSpPr>
        <p:sp>
          <p:nvSpPr>
            <p:cNvPr id="22" name="Rectangle 22"/>
            <p:cNvSpPr/>
            <p:nvPr/>
          </p:nvSpPr>
          <p:spPr>
            <a:xfrm>
              <a:off x="571500" y="2857500"/>
              <a:ext cx="2667000" cy="1619250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8957" y="305943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6142" y="31403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分支管理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4291" y="3458528"/>
              <a:ext cx="1579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git branch · git switch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4672" y="3704749"/>
              <a:ext cx="12368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创建 · 切换 · 重命名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429000" y="2857500"/>
            <a:ext cx="2667000" cy="1619250"/>
            <a:chOff x="3429000" y="2857500"/>
            <a:chExt cx="2667000" cy="1619250"/>
          </a:xfrm>
        </p:grpSpPr>
        <p:sp>
          <p:nvSpPr>
            <p:cNvPr id="28" name="Rectangle 28"/>
            <p:cNvSpPr/>
            <p:nvPr/>
          </p:nvSpPr>
          <p:spPr>
            <a:xfrm>
              <a:off x="3429000" y="2857500"/>
              <a:ext cx="2667000" cy="1619250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56457" y="305943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93642" y="31403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远程协作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61791" y="3458528"/>
              <a:ext cx="1791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clone · push · pull · fetch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62172" y="3704749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克隆 · 推送 · 拉取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2857500"/>
            <a:ext cx="2667000" cy="1619250"/>
            <a:chOff x="6286500" y="2857500"/>
            <a:chExt cx="2667000" cy="1619250"/>
          </a:xfrm>
        </p:grpSpPr>
        <p:sp>
          <p:nvSpPr>
            <p:cNvPr id="34" name="Rectangle 34"/>
            <p:cNvSpPr/>
            <p:nvPr/>
          </p:nvSpPr>
          <p:spPr>
            <a:xfrm>
              <a:off x="6286500" y="2857500"/>
              <a:ext cx="2667000" cy="1619250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13957" y="305943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51142" y="314039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合并与选择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19291" y="3458528"/>
              <a:ext cx="16503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git merge · cherry-pick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19672" y="3704749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合并分支 · 搬运提交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4667250"/>
            <a:ext cx="2667000" cy="1619250"/>
            <a:chOff x="571500" y="4667250"/>
            <a:chExt cx="2667000" cy="1619250"/>
          </a:xfrm>
        </p:grpSpPr>
        <p:sp>
          <p:nvSpPr>
            <p:cNvPr id="40" name="Rectangle 40"/>
            <p:cNvSpPr/>
            <p:nvPr/>
          </p:nvSpPr>
          <p:spPr>
            <a:xfrm>
              <a:off x="571500" y="4667250"/>
              <a:ext cx="2667000" cy="1619250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8957" y="4869180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↩️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6142" y="49501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撤销操作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4291" y="5268278"/>
              <a:ext cx="1975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git reset · revert · restore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4672" y="5514499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重置 · 回退 · 恢复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429000" y="4667250"/>
            <a:ext cx="2667000" cy="1619250"/>
            <a:chOff x="3429000" y="4667250"/>
            <a:chExt cx="2667000" cy="1619250"/>
          </a:xfrm>
        </p:grpSpPr>
        <p:sp>
          <p:nvSpPr>
            <p:cNvPr id="46" name="Rectangle 46"/>
            <p:cNvSpPr/>
            <p:nvPr/>
          </p:nvSpPr>
          <p:spPr>
            <a:xfrm>
              <a:off x="3429000" y="4667250"/>
              <a:ext cx="2667000" cy="1619250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656457" y="486918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📊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93642" y="49501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状态查询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661791" y="526827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git status · stash · diff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662172" y="5514499"/>
              <a:ext cx="12368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工作区 · 暂存 · 差异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86500" y="4667250"/>
            <a:ext cx="2667000" cy="1619250"/>
            <a:chOff x="6286500" y="4667250"/>
            <a:chExt cx="2667000" cy="1619250"/>
          </a:xfrm>
        </p:grpSpPr>
        <p:sp>
          <p:nvSpPr>
            <p:cNvPr id="52" name="Rectangle 52"/>
            <p:cNvSpPr/>
            <p:nvPr/>
          </p:nvSpPr>
          <p:spPr>
            <a:xfrm>
              <a:off x="6286500" y="4667250"/>
              <a:ext cx="2667000" cy="1619250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13957" y="486918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🏷️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51142" y="495014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标签与文件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19291" y="5268278"/>
              <a:ext cx="1876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git tag · mv · whatchanged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19672" y="5514499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打标 · 移动 · 变化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285750"/>
            <a:ext cx="1143000" cy="34290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84288" y="41052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1"/>
                </a:solidFill>
                <a:latin typeface="JetBrains Mono"/>
                <a:ea typeface="Microsoft YaHei"/>
                <a:cs typeface="JetBrains Mono"/>
              </a:rPr>
              <a:t>工作流管理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6460" y="217170"/>
            <a:ext cx="239908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文件添加与删除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1500" y="762000"/>
            <a:ext cx="5429250" cy="5524500"/>
            <a:chOff x="571500" y="762000"/>
            <a:chExt cx="5429250" cy="5524500"/>
          </a:xfrm>
        </p:grpSpPr>
        <p:sp>
          <p:nvSpPr>
            <p:cNvPr id="5" name="Rectangle 5"/>
            <p:cNvSpPr/>
            <p:nvPr/>
          </p:nvSpPr>
          <p:spPr>
            <a:xfrm>
              <a:off x="57150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2594" y="1027748"/>
              <a:ext cx="9431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git add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94916" y="1124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添加到暂存区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524000"/>
              <a:ext cx="5048250" cy="3810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404" y="16421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B8AF6"/>
                  </a:solidFill>
                  <a:latin typeface="JetBrains Mono"/>
                  <a:ea typeface="JetBrains Mono"/>
                  <a:cs typeface="JetBrains Mono"/>
                </a:rPr>
                <a:t>git add 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38297" y="16663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添加当前目录所有文件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000250"/>
              <a:ext cx="5048250" cy="3810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404" y="2118360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B8AF6"/>
                  </a:solidFill>
                  <a:latin typeface="JetBrains Mono"/>
                  <a:ea typeface="JetBrains Mono"/>
                  <a:cs typeface="JetBrains Mono"/>
                </a:rPr>
                <a:t>git add dir/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38297" y="21426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添加指定目录下所有文件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476500"/>
              <a:ext cx="5048250" cy="3810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6404" y="2594610"/>
              <a:ext cx="13772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B8AF6"/>
                  </a:solidFill>
                  <a:latin typeface="JetBrains Mono"/>
                  <a:ea typeface="JetBrains Mono"/>
                  <a:cs typeface="JetBrains Mono"/>
                </a:rPr>
                <a:t>git add file1 file2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95547" y="26188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只添加指定文件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3013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常用操作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333750"/>
              <a:ext cx="5048250" cy="3810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6404" y="3451860"/>
              <a:ext cx="152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reset HEAD -- 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95547" y="34761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撤销暂存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810000"/>
              <a:ext cx="5048250" cy="3810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6404" y="3928110"/>
              <a:ext cx="1361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diff --cached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14547" y="39523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查看暂存区差异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4363402"/>
              <a:ext cx="33748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💡 git add . 会添加当前目录下所有改动文件到暂存区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91250" y="762000"/>
            <a:ext cx="5429250" cy="5524500"/>
            <a:chOff x="6191250" y="762000"/>
            <a:chExt cx="5429250" cy="5524500"/>
          </a:xfrm>
        </p:grpSpPr>
        <p:sp>
          <p:nvSpPr>
            <p:cNvPr id="26" name="Rectangle 26"/>
            <p:cNvSpPr/>
            <p:nvPr/>
          </p:nvSpPr>
          <p:spPr>
            <a:xfrm>
              <a:off x="619125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62344" y="1027748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JetBrains Mono"/>
                  <a:ea typeface="JetBrains Mono"/>
                  <a:cs typeface="JetBrains Mono"/>
                </a:rPr>
                <a:t>git rm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24166" y="1124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删除文件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81750" y="1524000"/>
              <a:ext cx="5048250" cy="3810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6154" y="1642110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B8AF6"/>
                  </a:solidFill>
                  <a:latin typeface="JetBrains Mono"/>
                  <a:ea typeface="JetBrains Mono"/>
                  <a:cs typeface="JetBrains Mono"/>
                </a:rPr>
                <a:t>git rm &lt;file&gt;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43797" y="16663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从暂存和工作目录删除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2000250"/>
              <a:ext cx="5048250" cy="3810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6154" y="2118360"/>
              <a:ext cx="17568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B8AF6"/>
                  </a:solidFill>
                  <a:latin typeface="JetBrains Mono"/>
                  <a:ea typeface="JetBrains Mono"/>
                  <a:cs typeface="JetBrains Mono"/>
                </a:rPr>
                <a:t>git rm --cached &lt;file&gt;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10547" y="21426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仅暂存区删除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2476500"/>
              <a:ext cx="5048250" cy="3810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6154" y="2594610"/>
              <a:ext cx="117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B8AF6"/>
                  </a:solidFill>
                  <a:latin typeface="JetBrains Mono"/>
                  <a:ea typeface="JetBrains Mono"/>
                  <a:cs typeface="JetBrains Mono"/>
                </a:rPr>
                <a:t>git rm -r &lt;dir&gt;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43797" y="26188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递归删除目录及内容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2952750"/>
              <a:ext cx="5048250" cy="3810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6154" y="3070860"/>
              <a:ext cx="12237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B8AF6"/>
                  </a:solidFill>
                  <a:latin typeface="JetBrains Mono"/>
                  <a:ea typeface="JetBrains Mono"/>
                  <a:cs typeface="JetBrains Mono"/>
                </a:rPr>
                <a:t>git rm -f &lt;file&gt;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43797" y="30951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强制删除已修改文件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6154" y="3680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注意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6916" y="3982402"/>
              <a:ext cx="23146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⚠️ git rm --cached 仅从暂存区移除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6916" y="42205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文件仍保留在工作目录中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6916" y="45539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⚠️ git rm -f 会永久删除文件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6916" y="479202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请确保不再需要该文件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246150" y="6514624"/>
            <a:ext cx="3793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285750"/>
            <a:ext cx="1143000" cy="34290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54964" y="410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1"/>
                </a:solidFill>
                <a:latin typeface="JetBrains Mono"/>
                <a:ea typeface="Microsoft YaHei"/>
                <a:cs typeface="JetBrains Mono"/>
              </a:rPr>
              <a:t>历史查看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66081" y="217170"/>
            <a:ext cx="205983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查看提交历史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71500" y="762000"/>
            <a:ext cx="5429250" cy="5524500"/>
            <a:chOff x="571500" y="762000"/>
            <a:chExt cx="5429250" cy="5524500"/>
          </a:xfrm>
        </p:grpSpPr>
        <p:sp>
          <p:nvSpPr>
            <p:cNvPr id="5" name="Rectangle 5"/>
            <p:cNvSpPr/>
            <p:nvPr/>
          </p:nvSpPr>
          <p:spPr>
            <a:xfrm>
              <a:off x="57150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2594" y="1027748"/>
              <a:ext cx="8742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git log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04416" y="1124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提交历史记录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785" y="1631156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log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5797" y="16473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显示所有提交历史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785" y="2050256"/>
              <a:ext cx="818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log -n 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47797" y="2066449"/>
              <a:ext cx="1005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显示最近5次提交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6785" y="2469356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log --oneline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14547" y="24855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简洁显示每提交一行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6785" y="2888456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log --graph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24047" y="29046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图形方式显示历史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200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6785" y="3307556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log --stat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33547" y="33237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显示文件修改统计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77571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过滤器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09575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6785" y="4202906"/>
              <a:ext cx="1375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A261"/>
                  </a:solidFill>
                  <a:latin typeface="JetBrains Mono"/>
                  <a:ea typeface="Microsoft YaHei"/>
                  <a:cs typeface="JetBrains Mono"/>
                </a:rPr>
                <a:t>--author="作者名"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14547" y="42190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按作者筛选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451485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6785" y="4622006"/>
              <a:ext cx="163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A261"/>
                  </a:solidFill>
                  <a:latin typeface="JetBrains Mono"/>
                  <a:ea typeface="JetBrains Mono"/>
                  <a:cs typeface="JetBrains Mono"/>
                </a:rPr>
                <a:t>--since="2023-01-01"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86047" y="46381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指定日期后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493395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6785" y="5041106"/>
              <a:ext cx="1210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A261"/>
                  </a:solidFill>
                  <a:latin typeface="JetBrains Mono"/>
                  <a:ea typeface="Microsoft YaHei"/>
                  <a:cs typeface="JetBrains Mono"/>
                </a:rPr>
                <a:t>--grep="关键字"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14547" y="50572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关键字搜索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191250" y="762000"/>
            <a:ext cx="5429250" cy="5524500"/>
            <a:chOff x="6191250" y="762000"/>
            <a:chExt cx="5429250" cy="5524500"/>
          </a:xfrm>
        </p:grpSpPr>
        <p:sp>
          <p:nvSpPr>
            <p:cNvPr id="34" name="Rectangle 34"/>
            <p:cNvSpPr/>
            <p:nvPr/>
          </p:nvSpPr>
          <p:spPr>
            <a:xfrm>
              <a:off x="619125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62344" y="1027748"/>
              <a:ext cx="114991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show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19416" y="1124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显示提交详情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38175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6535" y="1631156"/>
              <a:ext cx="6296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show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05547" y="16473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显示最近一次提交详情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38175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6535" y="2050256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show &lt;commit&gt;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20047" y="20664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指定提交详情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38175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66535" y="2469356"/>
              <a:ext cx="14866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show &lt;ID&gt;:&lt;file&gt;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091547" y="24855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查看指定文件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38175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6535" y="2888456"/>
              <a:ext cx="1579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show --name-only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01047" y="29046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只显示文件列表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66154" y="34899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典型场景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66916" y="3791902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🔍 想看某次提交改了哪些文件？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6916" y="4030028"/>
              <a:ext cx="19316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JetBrains Mono"/>
                  <a:cs typeface="JetBrains Mono"/>
                </a:rPr>
                <a:t>→ git show --name-only &lt;ID&gt;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66916" y="4363402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📄 想看某次提交改了什么内容？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66916" y="4601528"/>
              <a:ext cx="1550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JetBrains Mono"/>
                  <a:cs typeface="JetBrains Mono"/>
                </a:rPr>
                <a:t>→ git show --stat &lt;ID&gt;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66916" y="4934902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📝 想看某文件当时的内容？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66916" y="5173028"/>
              <a:ext cx="15149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JetBrains Mono"/>
                  <a:cs typeface="JetBrains Mono"/>
                </a:rPr>
                <a:t>→ git show &lt;ID&gt;:&lt;file&gt;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246150" y="6514624"/>
            <a:ext cx="3793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285750"/>
            <a:ext cx="1143000" cy="34290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54964" y="410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1"/>
                </a:solidFill>
                <a:latin typeface="JetBrains Mono"/>
                <a:ea typeface="Microsoft YaHei"/>
                <a:cs typeface="JetBrains Mono"/>
              </a:rPr>
              <a:t>精细溯源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7217" y="217170"/>
            <a:ext cx="307756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逐行溯源与操作回溯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71500" y="762000"/>
            <a:ext cx="5429250" cy="5524500"/>
            <a:chOff x="571500" y="762000"/>
            <a:chExt cx="5429250" cy="5524500"/>
          </a:xfrm>
        </p:grpSpPr>
        <p:sp>
          <p:nvSpPr>
            <p:cNvPr id="5" name="Rectangle 5"/>
            <p:cNvSpPr/>
            <p:nvPr/>
          </p:nvSpPr>
          <p:spPr>
            <a:xfrm>
              <a:off x="57150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2594" y="1027748"/>
              <a:ext cx="12326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git blame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90166" y="1124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逐行历史修改记录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785" y="1631156"/>
              <a:ext cx="1142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blame &lt;file&gt;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14547" y="16473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显示文件逐行修改记录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785" y="2050256"/>
              <a:ext cx="1821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blame -L 69,82 &lt;file&gt;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57547" y="20664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指定行范围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6785" y="2469356"/>
              <a:ext cx="1700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blame --show-email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67047" y="24855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显示作者邮箱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6785" y="2888456"/>
              <a:ext cx="1556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blame --porcelain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76547" y="29046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详细机器格式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404" y="34899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使用场景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3791902"/>
              <a:ext cx="2611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🔍 "这段代码是谁写的？什么时候加的？"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166" y="4077652"/>
              <a:ext cx="2173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📋 代码审查时定位每行改动的来源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4363402"/>
              <a:ext cx="1699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🐛 追踪bug引入的具体提交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4744402"/>
              <a:ext cx="2173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JetBrains Mono"/>
                  <a:ea typeface="Microsoft YaHei"/>
                  <a:cs typeface="JetBrains Mono"/>
                </a:rPr>
                <a:t>⚠️ blame 只显示每行最后一次修改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498252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JetBrains Mono"/>
                  <a:ea typeface="Microsoft YaHei"/>
                  <a:cs typeface="JetBrains Mono"/>
                </a:rPr>
                <a:t>若该行被多次修改，只显示最近一次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191250" y="762000"/>
            <a:ext cx="5429250" cy="5524500"/>
            <a:chOff x="6191250" y="762000"/>
            <a:chExt cx="5429250" cy="5524500"/>
          </a:xfrm>
        </p:grpSpPr>
        <p:sp>
          <p:nvSpPr>
            <p:cNvPr id="27" name="Rectangle 27"/>
            <p:cNvSpPr/>
            <p:nvPr/>
          </p:nvSpPr>
          <p:spPr>
            <a:xfrm>
              <a:off x="619125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62344" y="1027748"/>
              <a:ext cx="13290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reflog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00416" y="1124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引用日志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6535" y="1631156"/>
              <a:ext cx="72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reflog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6547" y="16473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显示所有引用日志记录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38175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6535" y="205025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reflog show &lt;branch&gt;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82047" y="20664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分支日志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38175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6535" y="2469356"/>
              <a:ext cx="18677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reflog show HEAD@{2}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72547" y="2485549"/>
              <a:ext cx="734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HEAD两步前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38175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6535" y="2888456"/>
              <a:ext cx="1617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reflog expire --all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82047" y="29046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清除所有日志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6154" y="34899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使用场景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6916" y="3791902"/>
              <a:ext cx="2823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⏪ "我不小心 reset --hard 了，能恢复吗？"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6916" y="4077652"/>
              <a:ext cx="19742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→ git reflog 找到之前的提交ID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6916" y="4315778"/>
              <a:ext cx="1599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JetBrains Mono"/>
                  <a:cs typeface="JetBrains Mono"/>
                </a:rPr>
                <a:t>→ git reset --hard &lt;ID&gt;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66916" y="4649152"/>
              <a:ext cx="1728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🔀 回溯HEAD的每一步操作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66916" y="4934902"/>
              <a:ext cx="1622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🛡️ 操作失误的"时间机器"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66916" y="5315902"/>
              <a:ext cx="18681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JetBrains Mono"/>
                  <a:ea typeface="Microsoft YaHei"/>
                  <a:cs typeface="JetBrains Mono"/>
                </a:rPr>
                <a:t>💡 reflog 记录所有HEAD移动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66916" y="5554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JetBrains Mono"/>
                  <a:ea typeface="Microsoft YaHei"/>
                  <a:cs typeface="JetBrains Mono"/>
                </a:rPr>
                <a:t>即使分支已删除也能找回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246150" y="6514624"/>
            <a:ext cx="3793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285750"/>
            <a:ext cx="1143000" cy="342900"/>
          </a:xfrm>
          <a:prstGeom prst="roundRect">
            <a:avLst>
              <a:gd name="adj" fmla="val 50000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54964" y="410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2"/>
                </a:solidFill>
                <a:latin typeface="JetBrains Mono"/>
                <a:ea typeface="Microsoft YaHei"/>
                <a:cs typeface="JetBrains Mono"/>
              </a:rPr>
              <a:t>分支管理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26838" y="217170"/>
            <a:ext cx="273832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分支的创建与管理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71500" y="762000"/>
            <a:ext cx="5429250" cy="5524500"/>
            <a:chOff x="571500" y="762000"/>
            <a:chExt cx="5429250" cy="5524500"/>
          </a:xfrm>
        </p:grpSpPr>
        <p:sp>
          <p:nvSpPr>
            <p:cNvPr id="5" name="Rectangle 5"/>
            <p:cNvSpPr/>
            <p:nvPr/>
          </p:nvSpPr>
          <p:spPr>
            <a:xfrm>
              <a:off x="57150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2594" y="102774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git branch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85416" y="1124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分支管理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785" y="16311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branch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66797" y="16473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列出所有本地分支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785" y="2050256"/>
              <a:ext cx="1338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branch &lt;name&gt;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14547" y="20664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创建新分支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6785" y="2469356"/>
              <a:ext cx="1549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branch -d &lt;name&gt;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05047" y="24855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删除分支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6785" y="2888456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branch -m &lt;old&gt; &lt;new&gt;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7547" y="2904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重命名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404" y="3394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列表参数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71475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6785" y="38219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A261"/>
                  </a:solidFill>
                  <a:latin typeface="JetBrains Mono"/>
                  <a:ea typeface="JetBrains Mono"/>
                  <a:cs typeface="JetBrains Mono"/>
                </a:rPr>
                <a:t>-a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9047" y="38380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列出本地和远程所有分支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13385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6785" y="42410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A261"/>
                  </a:solidFill>
                  <a:latin typeface="JetBrains Mono"/>
                  <a:ea typeface="JetBrains Mono"/>
                  <a:cs typeface="JetBrains Mono"/>
                </a:rPr>
                <a:t>-r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9047" y="42571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只列出远程分支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455295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6785" y="46601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4A261"/>
                  </a:solidFill>
                  <a:latin typeface="JetBrains Mono"/>
                  <a:ea typeface="JetBrains Mono"/>
                  <a:cs typeface="JetBrains Mono"/>
                </a:rPr>
                <a:t>-vv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19047" y="46762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显示各分支最后一次提交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191250" y="762000"/>
            <a:ext cx="5429250" cy="5524500"/>
            <a:chOff x="6191250" y="762000"/>
            <a:chExt cx="5429250" cy="5524500"/>
          </a:xfrm>
        </p:grpSpPr>
        <p:sp>
          <p:nvSpPr>
            <p:cNvPr id="31" name="Rectangle 31"/>
            <p:cNvSpPr/>
            <p:nvPr/>
          </p:nvSpPr>
          <p:spPr>
            <a:xfrm>
              <a:off x="619125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62344" y="1027748"/>
              <a:ext cx="13842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switch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00416" y="11249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切换分支（现代命令）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38175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66535" y="1631156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switch &lt;branch&gt;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20047" y="16473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切换到指定分支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38175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6535" y="2050256"/>
              <a:ext cx="1458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switch -c &lt;new&gt;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10547" y="20664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创建并切换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38175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6535" y="2469356"/>
              <a:ext cx="1465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switch -C &lt;new&gt;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10547" y="24855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强制创建并切换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38175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66535" y="288845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switch -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7047" y="29046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切换到上一个分支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381750" y="3200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6535" y="3307556"/>
              <a:ext cx="18175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switch --detach &lt;ID&gt;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72547" y="3323749"/>
              <a:ext cx="5953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分离HEAD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66154" y="3870960"/>
              <a:ext cx="18186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💡 switch vs checkout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66916" y="4172902"/>
              <a:ext cx="2350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switch 只用于分支切换，职责更清晰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6916" y="4458652"/>
              <a:ext cx="1947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checkout 功能更多但也更复杂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66916" y="4744402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推荐：日常切换用 switch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66916" y="5030152"/>
              <a:ext cx="1805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需要恢复文件时用 checkout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246150" y="6514624"/>
            <a:ext cx="3793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285750"/>
            <a:ext cx="1143000" cy="34290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54964" y="410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1"/>
                </a:solidFill>
                <a:latin typeface="JetBrains Mono"/>
                <a:ea typeface="Microsoft YaHei"/>
                <a:cs typeface="JetBrains Mono"/>
              </a:rPr>
              <a:t>切换恢复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7217" y="217170"/>
            <a:ext cx="307756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分支切换与文件恢复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1500" y="762000"/>
            <a:ext cx="5690946" cy="5524500"/>
            <a:chOff x="571500" y="762000"/>
            <a:chExt cx="5690946" cy="5524500"/>
          </a:xfrm>
        </p:grpSpPr>
        <p:sp>
          <p:nvSpPr>
            <p:cNvPr id="5" name="Rectangle 5"/>
            <p:cNvSpPr/>
            <p:nvPr/>
          </p:nvSpPr>
          <p:spPr>
            <a:xfrm>
              <a:off x="57150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2594" y="1027748"/>
              <a:ext cx="17011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git checkout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471166" y="11249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切换与恢复（经典）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785" y="1631156"/>
              <a:ext cx="1639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checkout &lt;branch&gt;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95547" y="16473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切换到指定分支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785" y="2050256"/>
              <a:ext cx="163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checkout -b &lt;new&gt;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86047" y="20664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创建并切换新分支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6785" y="2469356"/>
              <a:ext cx="1662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checkout &lt;commit&gt;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6047" y="24855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恢复到指定提交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6785" y="2888456"/>
              <a:ext cx="1609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checkout -- &lt;file&gt;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76547" y="29046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丢弃文件修改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200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6785" y="3307556"/>
              <a:ext cx="2318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checkout &lt;branch&gt; -- &lt;file&gt;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29047" y="33237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从分支恢复文件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8871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JetBrains Mono"/>
                  <a:ea typeface="Microsoft YaHei"/>
                  <a:cs typeface="JetBrains Mono"/>
                </a:rPr>
                <a:t>⚠️ checkout 功能多，容易混淆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4172902"/>
              <a:ext cx="2448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JetBrains Mono"/>
                  <a:ea typeface="Microsoft YaHei"/>
                  <a:cs typeface="JetBrains Mono"/>
                </a:rPr>
                <a:t>建议使用专门的 git switch / restore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191250" y="762000"/>
            <a:ext cx="5429250" cy="5524500"/>
            <a:chOff x="6191250" y="762000"/>
            <a:chExt cx="5429250" cy="5524500"/>
          </a:xfrm>
        </p:grpSpPr>
        <p:sp>
          <p:nvSpPr>
            <p:cNvPr id="26" name="Rectangle 26"/>
            <p:cNvSpPr/>
            <p:nvPr/>
          </p:nvSpPr>
          <p:spPr>
            <a:xfrm>
              <a:off x="619125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62344" y="1027748"/>
              <a:ext cx="15495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restore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90916" y="11249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恢复文件（现代命令）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8175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6535" y="1631156"/>
              <a:ext cx="1315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restore &lt;file&gt;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20047" y="16473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恢复到最近提交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6535" y="2050256"/>
              <a:ext cx="2024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restore --staged &lt;file&gt;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72547" y="20664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暂存区移除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6535" y="2469356"/>
              <a:ext cx="19458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restore --source=&lt;ID&gt;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72547" y="24855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从指定提交恢复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6535" y="2888456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restore --worktree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82047" y="29046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恢复工作目录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3200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6535" y="3307556"/>
              <a:ext cx="2461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restore --staged --worktree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53547" y="33237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同时恢复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6154" y="3870960"/>
              <a:ext cx="911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💡 职责分工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6916" y="4172902"/>
              <a:ext cx="3035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switch → 切换分支（替代 checkout 分支功能）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66916" y="44586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restore → 恢复文件（替代 checkout 文件功能）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66916" y="48396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各司其职，语义更清晰！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246150" y="6514624"/>
            <a:ext cx="3793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7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285750"/>
            <a:ext cx="1143000" cy="3429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84288" y="41052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3"/>
                </a:solidFill>
                <a:latin typeface="JetBrains Mono"/>
                <a:ea typeface="Microsoft YaHei"/>
                <a:cs typeface="JetBrains Mono"/>
              </a:rPr>
              <a:t>选择性提交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6460" y="217170"/>
            <a:ext cx="239908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跨分支精准搬运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52500" y="857250"/>
            <a:ext cx="10287000" cy="5334000"/>
            <a:chOff x="952500" y="857250"/>
            <a:chExt cx="10287000" cy="5334000"/>
          </a:xfrm>
        </p:grpSpPr>
        <p:sp>
          <p:nvSpPr>
            <p:cNvPr id="5" name="Rectangle 5"/>
            <p:cNvSpPr/>
            <p:nvPr/>
          </p:nvSpPr>
          <p:spPr>
            <a:xfrm>
              <a:off x="952500" y="857250"/>
              <a:ext cx="10287000" cy="5334000"/>
            </a:xfrm>
            <a:prstGeom prst="roundRect">
              <a:avLst>
                <a:gd name="adj" fmla="val 428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581150" y="1219200"/>
              <a:ext cx="1771650" cy="609600"/>
              <a:chOff x="1581150" y="1219200"/>
              <a:chExt cx="1771650" cy="6096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581150" y="139065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1847850" y="1524000"/>
                <a:ext cx="628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9525">
                    <a:moveTo>
                      <a:pt x="0" y="0"/>
                    </a:moveTo>
                    <a:lnTo>
                      <a:pt x="6286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2457450" y="121920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2457450" y="160020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2476500" y="1333500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19050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2476500" y="1524000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0"/>
                    </a:moveTo>
                    <a:lnTo>
                      <a:pt x="95250" y="1905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3124200" y="121920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2686050" y="1333500"/>
                <a:ext cx="552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" h="9525">
                    <a:moveTo>
                      <a:pt x="0" y="0"/>
                    </a:moveTo>
                    <a:lnTo>
                      <a:pt x="5524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857500" y="1333500"/>
                <a:ext cx="190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381000">
                    <a:moveTo>
                      <a:pt x="0" y="381000"/>
                    </a:moveTo>
                    <a:cubicBezTo>
                      <a:pt x="127000" y="381000"/>
                      <a:pt x="190500" y="254000"/>
                      <a:pt x="190500" y="0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  <a:prstDash val="dash"/>
              </a:ln>
            </p:spPr>
          </p:sp>
          <p:sp>
            <p:nvSpPr>
              <p:cNvPr id="15" name="Polygon 15"/>
              <p:cNvSpPr/>
              <p:nvPr/>
            </p:nvSpPr>
            <p:spPr>
              <a:xfrm>
                <a:off x="3009900" y="1219200"/>
                <a:ext cx="762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6675">
                    <a:moveTo>
                      <a:pt x="0" y="66675"/>
                    </a:moveTo>
                    <a:lnTo>
                      <a:pt x="76200" y="66675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325118" y="2774632"/>
              <a:ext cx="17659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git cherry-pick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14166" y="28394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将指定提交应用到当前分支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238250" y="3238500"/>
              <a:ext cx="4572000" cy="3810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22654" y="3356610"/>
              <a:ext cx="2233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B8AF6"/>
                  </a:solidFill>
                  <a:latin typeface="JetBrains Mono"/>
                  <a:ea typeface="JetBrains Mono"/>
                  <a:cs typeface="JetBrains Mono"/>
                </a:rPr>
                <a:t>git cherry-pick &lt;commit-id&gt;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29047" y="33808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单个提交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238250" y="3714750"/>
              <a:ext cx="4572000" cy="3810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22654" y="3832860"/>
              <a:ext cx="188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B8AF6"/>
                  </a:solidFill>
                  <a:latin typeface="JetBrains Mono"/>
                  <a:ea typeface="JetBrains Mono"/>
                  <a:cs typeface="JetBrains Mono"/>
                </a:rPr>
                <a:t>cherry-pick &lt;ID1&gt; &lt;ID2&gt;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29047" y="38571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多个提交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238250" y="4191000"/>
              <a:ext cx="4572000" cy="3810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22654" y="4309110"/>
              <a:ext cx="2014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B8AF6"/>
                  </a:solidFill>
                  <a:latin typeface="JetBrains Mono"/>
                  <a:ea typeface="JetBrains Mono"/>
                  <a:cs typeface="JetBrains Mono"/>
                </a:rPr>
                <a:t>cherry-pick &lt;ID1&gt;..&lt;ID2&gt;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29047" y="43333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范围选择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80404" y="31089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控制选项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0" y="3429000"/>
              <a:ext cx="4667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0785" y="353615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--continue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00797" y="35523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解决冲突后继续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96000" y="3848100"/>
              <a:ext cx="4667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5" y="39552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--abort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15047" y="39714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取消当前操作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96000" y="4267200"/>
              <a:ext cx="4667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5" y="43743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--quit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24547" y="43905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退出但保留已应用的提交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28166" y="5030152"/>
              <a:ext cx="4406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💡 典型场景：只想从 feature 分支取某个 bugfix，不想合并整条分支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28166" y="5315902"/>
              <a:ext cx="33248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JetBrains Mono"/>
                  <a:ea typeface="Microsoft YaHei"/>
                  <a:cs typeface="JetBrains Mono"/>
                </a:rPr>
                <a:t>⚠️ cherry-pick 创建的是新提交，commit ID 会改变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246150" y="6514624"/>
            <a:ext cx="3793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8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285750"/>
            <a:ext cx="1143000" cy="34290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54964" y="410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1"/>
                </a:solidFill>
                <a:latin typeface="JetBrains Mono"/>
                <a:ea typeface="Microsoft YaHei"/>
                <a:cs typeface="JetBrains Mono"/>
              </a:rPr>
              <a:t>远程协作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7217" y="217170"/>
            <a:ext cx="307756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克隆仓库与远程管理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762000"/>
            <a:ext cx="5429250" cy="5524500"/>
            <a:chOff x="571500" y="762000"/>
            <a:chExt cx="5429250" cy="5524500"/>
          </a:xfrm>
        </p:grpSpPr>
        <p:sp>
          <p:nvSpPr>
            <p:cNvPr id="5" name="Rectangle 5"/>
            <p:cNvSpPr/>
            <p:nvPr/>
          </p:nvSpPr>
          <p:spPr>
            <a:xfrm>
              <a:off x="57150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2594" y="1027748"/>
              <a:ext cx="117747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git clone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9666" y="1124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克隆远程仓库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785" y="16311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clone &lt;url&gt;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24047" y="16473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克隆到本地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785" y="2050256"/>
              <a:ext cx="1489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clone &lt;url&gt; &lt;dir&gt;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76547" y="20664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指定本地目录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6785" y="246935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clone -b &lt;branch&gt;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6047" y="24855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只克隆指定分支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6785" y="2888456"/>
              <a:ext cx="1398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clone --depth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05047" y="29046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浅克隆（只取最新）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200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6785" y="3307556"/>
              <a:ext cx="185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clone --single-branch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7047" y="33237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只克隆一个分支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581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6785" y="3688556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clone --recurse-submodules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48047" y="37047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含子模块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166" y="4268152"/>
              <a:ext cx="22132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💡 浅克隆 (--depth 1) 适合CI/CD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450627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大幅减少下载时间和磁盘占用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191250" y="762000"/>
            <a:ext cx="5429250" cy="5524500"/>
            <a:chOff x="6191250" y="762000"/>
            <a:chExt cx="5429250" cy="5524500"/>
          </a:xfrm>
        </p:grpSpPr>
        <p:sp>
          <p:nvSpPr>
            <p:cNvPr id="29" name="Rectangle 29"/>
            <p:cNvSpPr/>
            <p:nvPr/>
          </p:nvSpPr>
          <p:spPr>
            <a:xfrm>
              <a:off x="619125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2344" y="1027748"/>
              <a:ext cx="14531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remote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95666" y="1124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远程仓库管理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6535" y="1631156"/>
              <a:ext cx="795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remote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91297" y="16473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列出所有远程仓库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6535" y="2050256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remote -v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58047" y="2066449"/>
              <a:ext cx="12156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显示详细信息含URL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6535" y="2469356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remote add &lt;name&gt; &lt;url&gt;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72547" y="24855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添加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6535" y="2888456"/>
              <a:ext cx="1941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remote remove &lt;name&gt;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82047" y="2904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删除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81750" y="3200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66535" y="3307556"/>
              <a:ext cx="2280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remote rename &lt;old&gt; &lt;new&gt;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63047" y="33237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重命名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381750" y="3581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6535" y="3688556"/>
              <a:ext cx="2378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remote set-url &lt;name&gt; &lt;url&gt;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63047" y="3704749"/>
              <a:ext cx="3793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改URL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66154" y="4251960"/>
              <a:ext cx="911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💡 常见操作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6916" y="4553902"/>
              <a:ext cx="1480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🌐 origin 是默认远程名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66916" y="483965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🔗 可配置多个远程仓库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66916" y="5125402"/>
              <a:ext cx="201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🔄 用 set-url 切换 HTTPS/SSH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246150" y="6514624"/>
            <a:ext cx="3793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9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285750"/>
            <a:ext cx="1143000" cy="342900"/>
          </a:xfrm>
          <a:prstGeom prst="roundRect">
            <a:avLst>
              <a:gd name="adj" fmla="val 50000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54964" y="410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2"/>
                </a:solidFill>
                <a:latin typeface="JetBrains Mono"/>
                <a:ea typeface="Microsoft YaHei"/>
                <a:cs typeface="JetBrains Mono"/>
              </a:rPr>
              <a:t>推送拉取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87596" y="217170"/>
            <a:ext cx="341680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推送到远端与拉取更新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71500" y="762000"/>
            <a:ext cx="5429250" cy="5524500"/>
            <a:chOff x="571500" y="762000"/>
            <a:chExt cx="5429250" cy="5524500"/>
          </a:xfrm>
        </p:grpSpPr>
        <p:sp>
          <p:nvSpPr>
            <p:cNvPr id="5" name="Rectangle 5"/>
            <p:cNvSpPr/>
            <p:nvPr/>
          </p:nvSpPr>
          <p:spPr>
            <a:xfrm>
              <a:off x="57150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2594" y="1027748"/>
              <a:ext cx="10947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git push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04416" y="11249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推送到远程仓库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785" y="1631156"/>
              <a:ext cx="2046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push &lt;remote&gt; &lt;branch&gt;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57547" y="16473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推送到远程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785" y="2050256"/>
              <a:ext cx="1436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push origin main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95547" y="2066449"/>
              <a:ext cx="12104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推送主分支到 origin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6785" y="2469356"/>
              <a:ext cx="1647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push -u origin main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76547" y="24855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推送并设置跟踪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6785" y="2888456"/>
              <a:ext cx="9839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push --all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33547" y="29046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推送所有本地分支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200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6785" y="3307556"/>
              <a:ext cx="1142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push --tags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24047" y="33237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推送所有标签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581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6785" y="3688556"/>
              <a:ext cx="1225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push --force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24047" y="37047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强制推送（慎用！）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3962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6785" y="4069556"/>
              <a:ext cx="185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push origin :&lt;branch&gt;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76547" y="40857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删除远程分支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7166" y="4649152"/>
              <a:ext cx="1770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JetBrains Mono"/>
                  <a:ea typeface="Microsoft YaHei"/>
                  <a:cs typeface="JetBrains Mono"/>
                </a:rPr>
                <a:t>⚠️ --force 会覆盖远程历史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7166" y="4887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JetBrains Mono"/>
                  <a:ea typeface="Microsoft YaHei"/>
                  <a:cs typeface="JetBrains Mono"/>
                </a:rPr>
                <a:t>团队协作中慎用！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191250" y="762000"/>
            <a:ext cx="5429250" cy="5524500"/>
            <a:chOff x="6191250" y="762000"/>
            <a:chExt cx="5429250" cy="5524500"/>
          </a:xfrm>
        </p:grpSpPr>
        <p:sp>
          <p:nvSpPr>
            <p:cNvPr id="32" name="Rectangle 32"/>
            <p:cNvSpPr/>
            <p:nvPr/>
          </p:nvSpPr>
          <p:spPr>
            <a:xfrm>
              <a:off x="619125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2344" y="1027748"/>
              <a:ext cx="9569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pull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24166" y="1124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拉取远程更新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6535" y="16311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pull &lt;remote&gt; &lt;branch&gt;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91547" y="16473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获取并合并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6535" y="2050256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pull origin main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10547" y="2066449"/>
              <a:ext cx="12104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从 origin/main 拉取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6535" y="2469356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pull --rebase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20047" y="24855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变基而非合并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8175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66535" y="2888456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pull --ff-only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20047" y="29046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仅快速合并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381750" y="3200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6535" y="3307556"/>
              <a:ext cx="1504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pull --no-commit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10547" y="33237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不自动提交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381750" y="3581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66535" y="3688556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pull --squash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520047" y="37047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压缩为一个提交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66154" y="42519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💡 pull = fetch + merge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66916" y="4553902"/>
              <a:ext cx="1996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fetch 只下载，pull 下载并合并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66916" y="4839652"/>
              <a:ext cx="1947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--rebase 保持线性历史更整洁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173590" y="6514624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10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285750"/>
            <a:ext cx="1143000" cy="34290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54964" y="410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1"/>
                </a:solidFill>
                <a:latin typeface="JetBrains Mono"/>
                <a:ea typeface="Microsoft YaHei"/>
                <a:cs typeface="JetBrains Mono"/>
              </a:rPr>
              <a:t>获取合并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35702" y="217170"/>
            <a:ext cx="172059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获取与合并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762000"/>
            <a:ext cx="5429250" cy="5524500"/>
            <a:chOff x="571500" y="762000"/>
            <a:chExt cx="5429250" cy="5524500"/>
          </a:xfrm>
        </p:grpSpPr>
        <p:sp>
          <p:nvSpPr>
            <p:cNvPr id="5" name="Rectangle 5"/>
            <p:cNvSpPr/>
            <p:nvPr/>
          </p:nvSpPr>
          <p:spPr>
            <a:xfrm>
              <a:off x="57150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2594" y="1027748"/>
              <a:ext cx="12463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git fetch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9666" y="11249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获取远程更新（不合并）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785" y="163115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fetch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76297" y="16473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从默认远程获取所有分支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785" y="2050256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fetch &lt;remote&gt;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14547" y="20664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从指定远程获取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6785" y="2469356"/>
              <a:ext cx="2129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fetch &lt;remote&gt; &lt;branch&gt;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7547" y="24855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获取指定分支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6785" y="28884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fetch --all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33547" y="29046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从所有远程获取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200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6785" y="3307556"/>
              <a:ext cx="13080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fetch --prune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24047" y="332374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获取并删除已删除的远程分支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870960"/>
              <a:ext cx="1598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💡 为什么用 fetch？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4172902"/>
              <a:ext cx="14312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fetch 只下载，不合并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44586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让你先看看有什么变化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166" y="4744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决定是否以及何时合并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5125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JetBrains Mono"/>
                  <a:ea typeface="Microsoft YaHei"/>
                  <a:cs typeface="JetBrains Mono"/>
                </a:rPr>
                <a:t>更安全，更可控！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191250" y="762000"/>
            <a:ext cx="5429250" cy="5524500"/>
            <a:chOff x="6191250" y="762000"/>
            <a:chExt cx="5429250" cy="5524500"/>
          </a:xfrm>
        </p:grpSpPr>
        <p:sp>
          <p:nvSpPr>
            <p:cNvPr id="29" name="Rectangle 29"/>
            <p:cNvSpPr/>
            <p:nvPr/>
          </p:nvSpPr>
          <p:spPr>
            <a:xfrm>
              <a:off x="619125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2344" y="102774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merge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09916" y="1124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合并分支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6535" y="1631156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merge &lt;branch&gt;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20047" y="16473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合并到当前分支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6535" y="2050256"/>
              <a:ext cx="2046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merge --no-ff &lt;branch&gt;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72547" y="20664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强制合并提交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6535" y="2469356"/>
              <a:ext cx="2129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merge --squash &lt;branch&gt;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72547" y="24855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压缩合并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6535" y="2888456"/>
              <a:ext cx="1338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merge --abort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20047" y="2904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取消合并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81750" y="3200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66535" y="3307556"/>
              <a:ext cx="1759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merge -X ours &lt;branch&gt;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01047" y="33237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冲突时优先当前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381750" y="3581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6535" y="3688556"/>
              <a:ext cx="1886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merge -X theirs &lt;branch&gt;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91547" y="37047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冲突时优先对方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66154" y="4251960"/>
              <a:ext cx="15811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💡 merge vs rebase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6916" y="4553902"/>
              <a:ext cx="2385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merge: 保留完整历史，创建合并提交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66916" y="4839652"/>
              <a:ext cx="2434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rebase: 线性历史，更整洁但改写提交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66916" y="5125402"/>
              <a:ext cx="25337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公共分支用 merge，个人分支用 rebase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173590" y="6514624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11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285750"/>
            <a:ext cx="1143000" cy="3429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54964" y="410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3"/>
                </a:solidFill>
                <a:latin typeface="JetBrains Mono"/>
                <a:ea typeface="Microsoft YaHei"/>
                <a:cs typeface="JetBrains Mono"/>
              </a:rPr>
              <a:t>撤销操作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35702" y="217170"/>
            <a:ext cx="172059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撤销与回退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762000"/>
            <a:ext cx="5429250" cy="5524500"/>
            <a:chOff x="571500" y="762000"/>
            <a:chExt cx="5429250" cy="5524500"/>
          </a:xfrm>
        </p:grpSpPr>
        <p:sp>
          <p:nvSpPr>
            <p:cNvPr id="5" name="Rectangle 5"/>
            <p:cNvSpPr/>
            <p:nvPr/>
          </p:nvSpPr>
          <p:spPr>
            <a:xfrm>
              <a:off x="57150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2594" y="1027748"/>
              <a:ext cx="12463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JetBrains Mono"/>
                  <a:ea typeface="JetBrains Mono"/>
                  <a:cs typeface="JetBrains Mono"/>
                </a:rPr>
                <a:t>git reset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04416" y="1124902"/>
              <a:ext cx="1280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重置当前分支 HEAD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785" y="1631156"/>
              <a:ext cx="15769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reset --soft &lt;ID&gt;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5047" y="16473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保留暂存和工作目录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785" y="2050256"/>
              <a:ext cx="165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reset --mixed &lt;ID&gt;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95547" y="20664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保留工作目录（默认）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6785" y="2469356"/>
              <a:ext cx="15769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JetBrains Mono"/>
                  <a:ea typeface="JetBrains Mono"/>
                  <a:cs typeface="JetBrains Mono"/>
                </a:rPr>
                <a:t>git reset --hard &lt;ID&gt;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95547" y="24855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清空所有更改！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6785" y="2888456"/>
              <a:ext cx="1248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reset HEAD~1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14547" y="29046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重置到上一个提交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200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6785" y="3307556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reset &lt;file&gt;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14547" y="3323749"/>
              <a:ext cx="1546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从暂存区移除（撤销add）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8709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三种模式对比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4172902"/>
              <a:ext cx="2765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JetBrains Mono"/>
                  <a:ea typeface="Microsoft YaHei"/>
                  <a:cs typeface="JetBrains Mono"/>
                </a:rPr>
                <a:t>--soft: HEAD + 暂存区 + 工作目录 都保留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4458652"/>
              <a:ext cx="29522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JetBrains Mono"/>
                  <a:ea typeface="Microsoft YaHei"/>
                  <a:cs typeface="JetBrains Mono"/>
                </a:rPr>
                <a:t>--mixed: HEAD + 暂存区 重置，工作目录保留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166" y="4744402"/>
              <a:ext cx="2910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JetBrains Mono"/>
                  <a:ea typeface="Microsoft YaHei"/>
                  <a:cs typeface="JetBrains Mono"/>
                </a:rPr>
                <a:t>--hard: HEAD + 暂存区 + 工作目录 全部重置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5125402"/>
              <a:ext cx="22581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JetBrains Mono"/>
                  <a:ea typeface="Microsoft YaHei"/>
                  <a:cs typeface="JetBrains Mono"/>
                </a:rPr>
                <a:t>⚠️ --hard 会丢失所有未提交更改！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191250" y="762000"/>
            <a:ext cx="5429250" cy="5524500"/>
            <a:chOff x="6191250" y="762000"/>
            <a:chExt cx="5429250" cy="5524500"/>
          </a:xfrm>
        </p:grpSpPr>
        <p:sp>
          <p:nvSpPr>
            <p:cNvPr id="29" name="Rectangle 29"/>
            <p:cNvSpPr/>
            <p:nvPr/>
          </p:nvSpPr>
          <p:spPr>
            <a:xfrm>
              <a:off x="619125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2344" y="102774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revert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09916" y="1124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生成撤销提交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8175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6535" y="1631156"/>
              <a:ext cx="1707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revert &lt;commit-id&gt;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10547" y="16473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撤销指定提交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8175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66535" y="2050256"/>
              <a:ext cx="1327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revert -n &lt;ID&gt;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20047" y="20664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撤销但不自动提交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38175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6535" y="2469356"/>
              <a:ext cx="11619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revert HEAD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29547" y="24855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撤销最近一次提交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6535" y="2888456"/>
              <a:ext cx="18534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revert HEAD~2..HEAD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82047" y="2904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撤销两次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6154" y="3489960"/>
              <a:ext cx="1547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💡 reset vs revert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6916" y="3791902"/>
              <a:ext cx="16503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JetBrains Mono"/>
                  <a:ea typeface="Microsoft YaHei"/>
                  <a:cs typeface="JetBrains Mono"/>
                </a:rPr>
                <a:t>reset: 改写历史，本地用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66916" y="40776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JetBrains Mono"/>
                  <a:ea typeface="Microsoft YaHei"/>
                  <a:cs typeface="JetBrains Mono"/>
                </a:rPr>
                <a:t>revert: 新建反向提交，团队协作用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66916" y="445865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✅ 已推送到远程的提交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66916" y="4744402"/>
              <a:ext cx="1629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→ 用 revert（不改历史）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66916" y="5030152"/>
              <a:ext cx="1325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📝 未推送的本地提交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66916" y="5315902"/>
              <a:ext cx="1551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→ 用 reset（直接改写）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173590" y="6514624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12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285750"/>
            <a:ext cx="1143000" cy="34290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54964" y="410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1"/>
                </a:solidFill>
                <a:latin typeface="JetBrains Mono"/>
                <a:ea typeface="Microsoft YaHei"/>
                <a:cs typeface="JetBrains Mono"/>
              </a:rPr>
              <a:t>文件操作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7217" y="217170"/>
            <a:ext cx="307756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文件移动与贡献统计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71500" y="762000"/>
            <a:ext cx="5429250" cy="5524500"/>
            <a:chOff x="571500" y="762000"/>
            <a:chExt cx="5429250" cy="5524500"/>
          </a:xfrm>
        </p:grpSpPr>
        <p:sp>
          <p:nvSpPr>
            <p:cNvPr id="5" name="Rectangle 5"/>
            <p:cNvSpPr/>
            <p:nvPr/>
          </p:nvSpPr>
          <p:spPr>
            <a:xfrm>
              <a:off x="57150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2594" y="1027748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git mv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9166" y="1124902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移动/重命名跟踪文件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785" y="1631156"/>
              <a:ext cx="1375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mv &lt;old&gt; &lt;new&gt;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5047" y="1647349"/>
              <a:ext cx="1005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移动/重命名文件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785" y="2050256"/>
              <a:ext cx="1963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mv &lt;old_dir&gt; &lt;new_dir&gt;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57547" y="20664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移动目录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6785" y="2469356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mv -f &lt;old&gt; &lt;new&gt;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6047" y="24855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强制覆盖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6785" y="2888456"/>
              <a:ext cx="13080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mv f1 f2 &lt;dir&gt;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05047" y="29046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多文件移动到目录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7166" y="3506152"/>
              <a:ext cx="1805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💡 git mv 等于 mv + git add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37919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自动记录重命名操作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166" y="4077652"/>
              <a:ext cx="1523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比手动 mv + add 更可靠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191250" y="762000"/>
            <a:ext cx="5429250" cy="5524500"/>
            <a:chOff x="6191250" y="762000"/>
            <a:chExt cx="5429250" cy="5524500"/>
          </a:xfrm>
        </p:grpSpPr>
        <p:sp>
          <p:nvSpPr>
            <p:cNvPr id="24" name="Rectangle 24"/>
            <p:cNvSpPr/>
            <p:nvPr/>
          </p:nvSpPr>
          <p:spPr>
            <a:xfrm>
              <a:off x="619125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62344" y="1027748"/>
              <a:ext cx="16322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shortlog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81416" y="1124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提交摘要统计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38175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66535" y="1631156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shortlog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7047" y="16473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按作者分组显示提交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6535" y="2050256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shortlog -s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48547" y="20664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只显示提交数量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38175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6535" y="2469356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shortlog -n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48547" y="24855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按数量排序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38175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6535" y="2888456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shortlog -e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48547" y="29046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显示作者邮箱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381750" y="3200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6535" y="3307556"/>
              <a:ext cx="15377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shortlog v1.0..HEAD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20047" y="33237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指定范围统计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6154" y="3870960"/>
              <a:ext cx="911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💡 使用场景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6916" y="4172902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📊 团队贡献度排名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6916" y="4458652"/>
              <a:ext cx="1325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📈 版本发布贡献统计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6916" y="474440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🏆 识别最活跃的贡献者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66916" y="5125402"/>
              <a:ext cx="1485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JetBrains Mono"/>
                  <a:cs typeface="JetBrains Mono"/>
                </a:rPr>
                <a:t>git shortlog -sn HEAD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66916" y="5363528"/>
              <a:ext cx="154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→ 快速查看项目贡献排名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173590" y="6514624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13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285750"/>
            <a:ext cx="1143000" cy="342900"/>
          </a:xfrm>
          <a:prstGeom prst="roundRect">
            <a:avLst>
              <a:gd name="adj" fmla="val 50000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54964" y="410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2"/>
                </a:solidFill>
                <a:latin typeface="JetBrains Mono"/>
                <a:ea typeface="Microsoft YaHei"/>
                <a:cs typeface="JetBrains Mono"/>
              </a:rPr>
              <a:t>状态查询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6460" y="217170"/>
            <a:ext cx="239908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检查工作区状态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71500" y="762000"/>
            <a:ext cx="5429250" cy="5524500"/>
            <a:chOff x="571500" y="762000"/>
            <a:chExt cx="5429250" cy="5524500"/>
          </a:xfrm>
        </p:grpSpPr>
        <p:sp>
          <p:nvSpPr>
            <p:cNvPr id="5" name="Rectangle 5"/>
            <p:cNvSpPr/>
            <p:nvPr/>
          </p:nvSpPr>
          <p:spPr>
            <a:xfrm>
              <a:off x="57150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2594" y="102774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git status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90166" y="11249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工作区状态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785" y="16311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status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66797" y="16473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显示完整状态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785" y="2050256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status -s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47797" y="20664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简洁格式显示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6785" y="2469356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status -b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47797" y="24855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显示分支信息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6785" y="28884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status --ignored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95547" y="29046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显示被忽略的文件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200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6785" y="330755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status --untracked-files=all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3297" y="33237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显示所有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8709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状态含义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166" y="4172902"/>
              <a:ext cx="1699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JetBrains Mono"/>
                  <a:ea typeface="Microsoft YaHei"/>
                  <a:cs typeface="JetBrains Mono"/>
                </a:rPr>
                <a:t>✓ 已暂存: 已添加到 index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4458652"/>
              <a:ext cx="1629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JetBrains Mono"/>
                  <a:ea typeface="Microsoft YaHei"/>
                  <a:cs typeface="JetBrains Mono"/>
                </a:rPr>
                <a:t>! 已修改: 工作目录有改动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7166" y="4744402"/>
              <a:ext cx="2088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JetBrains Mono"/>
                  <a:ea typeface="Microsoft YaHei"/>
                  <a:cs typeface="JetBrains Mono"/>
                </a:rPr>
                <a:t>? 未跟踪: 新文件未加入版本控制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5125402"/>
              <a:ext cx="1975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💡 status 是最常用的命令之一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166" y="536352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随时了解当前工作状态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191250" y="762000"/>
            <a:ext cx="5429250" cy="5524500"/>
            <a:chOff x="6191250" y="762000"/>
            <a:chExt cx="5429250" cy="5524500"/>
          </a:xfrm>
        </p:grpSpPr>
        <p:sp>
          <p:nvSpPr>
            <p:cNvPr id="30" name="Rectangle 30"/>
            <p:cNvSpPr/>
            <p:nvPr/>
          </p:nvSpPr>
          <p:spPr>
            <a:xfrm>
              <a:off x="6191250" y="762000"/>
              <a:ext cx="5429250" cy="5524500"/>
            </a:xfrm>
            <a:prstGeom prst="roundRect">
              <a:avLst>
                <a:gd name="adj" fmla="val 35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2344" y="1027748"/>
              <a:ext cx="14944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ls-files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90916" y="1124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显示跟踪文件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38175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6535" y="1631156"/>
              <a:ext cx="818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ls-files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77047" y="1647349"/>
              <a:ext cx="15422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显示所有被Git跟踪的文件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38175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6535" y="2050256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ls-files -o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8047" y="20664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未被跟踪的文件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38175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6535" y="2469356"/>
              <a:ext cx="991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ls-files -i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8047" y="24855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被忽略的文件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38175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6535" y="2888456"/>
              <a:ext cx="1059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ls-files -m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58047" y="29046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已修改未提交的文件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381750" y="3200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6535" y="3307556"/>
              <a:ext cx="1443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ls-files --stage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10547" y="33237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显示索引信息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381750" y="35814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66535" y="3688556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ls-files -d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58047" y="37047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已删除未提交的文件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6154" y="4251960"/>
              <a:ext cx="1699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💡 status vs ls-files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66916" y="455390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status: 查看当前工作区状态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66916" y="4839652"/>
              <a:ext cx="19865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ls-files: 查看Git索引中的文件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66916" y="51254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两者视角不同，互为补充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173590" y="6514624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14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285750"/>
            <a:ext cx="1143000" cy="3429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54964" y="410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3"/>
                </a:solidFill>
                <a:latin typeface="JetBrains Mono"/>
                <a:ea typeface="Microsoft YaHei"/>
                <a:cs typeface="JetBrains Mono"/>
              </a:rPr>
              <a:t>临时存放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26838" y="217170"/>
            <a:ext cx="273832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临时保存工作状态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52500" y="857250"/>
            <a:ext cx="10287000" cy="5334000"/>
            <a:chOff x="952500" y="857250"/>
            <a:chExt cx="10287000" cy="5334000"/>
          </a:xfrm>
        </p:grpSpPr>
        <p:sp>
          <p:nvSpPr>
            <p:cNvPr id="5" name="Rectangle 5"/>
            <p:cNvSpPr/>
            <p:nvPr/>
          </p:nvSpPr>
          <p:spPr>
            <a:xfrm>
              <a:off x="952500" y="857250"/>
              <a:ext cx="10287000" cy="5334000"/>
            </a:xfrm>
            <a:prstGeom prst="roundRect">
              <a:avLst>
                <a:gd name="adj" fmla="val 428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333500" y="1238250"/>
              <a:ext cx="1333500" cy="666750"/>
              <a:chOff x="1333500" y="1238250"/>
              <a:chExt cx="1333500" cy="666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524000" y="1238250"/>
                <a:ext cx="1143000" cy="381000"/>
              </a:xfrm>
              <a:prstGeom prst="roundRect">
                <a:avLst>
                  <a:gd name="adj" fmla="val 30000"/>
                </a:avLst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428750" y="1381125"/>
                <a:ext cx="1143000" cy="381000"/>
              </a:xfrm>
              <a:prstGeom prst="roundRect">
                <a:avLst>
                  <a:gd name="adj" fmla="val 30000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1333500" y="1524000"/>
                <a:ext cx="1143000" cy="381000"/>
              </a:xfrm>
              <a:prstGeom prst="roundRect">
                <a:avLst>
                  <a:gd name="adj" fmla="val 3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900238" y="1674495"/>
                <a:ext cx="35936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</a:rPr>
                  <a:t>stash</a:t>
                </a: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325118" y="2774632"/>
              <a:ext cx="10546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git stash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66416" y="2839402"/>
              <a:ext cx="2003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像一个"时间机器"保存当前进度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7404" y="32042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基本操作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238250" y="3524250"/>
              <a:ext cx="457200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23035" y="363140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stash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47797" y="36475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保存当前修改到栈中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238250" y="3943350"/>
              <a:ext cx="457200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23035" y="4050506"/>
              <a:ext cx="1571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Microsoft YaHei"/>
                  <a:cs typeface="JetBrains Mono"/>
                </a:rPr>
                <a:t>git stash save "描述"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86047" y="40666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保存并添加描述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238250" y="4362450"/>
              <a:ext cx="457200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23035" y="4469606"/>
              <a:ext cx="9839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stash list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14547" y="44857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显示所有保存的修改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238250" y="4781550"/>
              <a:ext cx="457200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23035" y="4888706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stash apply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14547" y="49048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恢复最近保存（不删除）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80404" y="32042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进阶操作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96000" y="3524250"/>
              <a:ext cx="4667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5" y="3631406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stash pop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7047" y="36475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恢复并删除该保存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0" y="3943350"/>
              <a:ext cx="4667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5" y="4050506"/>
              <a:ext cx="1896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stash apply stash@{2}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10547" y="40666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恢复指定保存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96000" y="4362450"/>
              <a:ext cx="4667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5" y="4469606"/>
              <a:ext cx="1850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stash drop stash@{2}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091547" y="44857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删除指定保存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96000" y="4781550"/>
              <a:ext cx="4667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5" y="4888706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stash clear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67547" y="49048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清空所有保存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96000" y="5200650"/>
              <a:ext cx="4667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80785" y="5307806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stash branch &lt;name&gt;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10547" y="53239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在新分支上恢复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28166" y="5506402"/>
              <a:ext cx="28871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💡 stash 像一个栈：后进先出，可以保存多份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173590" y="6514624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15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285750"/>
            <a:ext cx="1143000" cy="34290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54964" y="410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chemeClr val="accent1"/>
                </a:solidFill>
                <a:latin typeface="JetBrains Mono"/>
                <a:ea typeface="Microsoft YaHei"/>
                <a:cs typeface="JetBrains Mono"/>
              </a:rPr>
              <a:t>标签管理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6460" y="217170"/>
            <a:ext cx="239908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打标签与里程碑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52500" y="857250"/>
            <a:ext cx="10287000" cy="5334000"/>
            <a:chOff x="952500" y="857250"/>
            <a:chExt cx="10287000" cy="5334000"/>
          </a:xfrm>
        </p:grpSpPr>
        <p:sp>
          <p:nvSpPr>
            <p:cNvPr id="5" name="Rectangle 5"/>
            <p:cNvSpPr/>
            <p:nvPr/>
          </p:nvSpPr>
          <p:spPr>
            <a:xfrm>
              <a:off x="952500" y="857250"/>
              <a:ext cx="10287000" cy="5334000"/>
            </a:xfrm>
            <a:prstGeom prst="roundRect">
              <a:avLst>
                <a:gd name="adj" fmla="val 428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524000" y="1238250"/>
              <a:ext cx="952500" cy="571500"/>
              <a:chOff x="1524000" y="1238250"/>
              <a:chExt cx="952500" cy="571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1524000" y="1238250"/>
                <a:ext cx="952500" cy="571500"/>
              </a:xfrm>
              <a:prstGeom prst="roundRect">
                <a:avLst>
                  <a:gd name="adj" fmla="val 13333"/>
                </a:avLst>
              </a:prstGeom>
              <a:solidFill>
                <a:schemeClr val="accent3">
                  <a:alpha val="30000"/>
                </a:schemeClr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2286000" y="1428750"/>
                <a:ext cx="190500" cy="190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756791" y="1505902"/>
                <a:ext cx="33718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dk1"/>
                    </a:solidFill>
                    <a:latin typeface="JetBrains Mono"/>
                    <a:ea typeface="JetBrains Mono"/>
                    <a:cs typeface="JetBrains Mono"/>
                  </a:rPr>
                  <a:t>v1.0</a:t>
                </a: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325118" y="2584132"/>
              <a:ext cx="7980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git tag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90166" y="2648902"/>
              <a:ext cx="2731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给某个提交颁发"纪念章" — 常用于版本发布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7404" y="3013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创建标签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238250" y="3333750"/>
              <a:ext cx="457200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23035" y="344090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tag &lt;name&gt;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14547" y="34570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给最新提交打轻量标签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238250" y="3752850"/>
              <a:ext cx="457200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23035" y="3860006"/>
              <a:ext cx="2031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tag -a &lt;name&gt; -m "msg"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48047" y="38761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注释标签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238250" y="4171950"/>
              <a:ext cx="457200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23035" y="4279106"/>
              <a:ext cx="2031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tag &lt;name&gt; &lt;commit-id&gt;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48047" y="42952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给指定提交打标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80404" y="30137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删除与列表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0" y="3333750"/>
              <a:ext cx="4667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5" y="3440906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tag -d &lt;name&gt;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48547" y="34570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删除本地标签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96000" y="3752850"/>
              <a:ext cx="4667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5" y="3860006"/>
              <a:ext cx="1398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tag -l "v1.0.*"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9547" y="38761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列出匹配的标签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27404" y="46329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JetBrains Mono"/>
                  <a:ea typeface="Microsoft YaHei"/>
                  <a:cs typeface="JetBrains Mono"/>
                </a:rPr>
                <a:t>远程操作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238250" y="4953000"/>
              <a:ext cx="457200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423035" y="5060156"/>
              <a:ext cx="1526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push origin &lt;tag&gt;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76547" y="50763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推送指定标签到远程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238250" y="5372100"/>
              <a:ext cx="457200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23035" y="5479256"/>
              <a:ext cx="1609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push origin --tags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7047" y="54954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推送所有标签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96000" y="4953000"/>
              <a:ext cx="4667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5" y="5060156"/>
              <a:ext cx="2295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push origin :refs/tags/&lt;name&gt;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82047" y="50763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删除远程标签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81166" y="5411152"/>
              <a:ext cx="2166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💡 tag 是固定的，不像分支会移动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81166" y="564927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标签始终指向同一个提交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173590" y="6514624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16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571500" y="4381500"/>
            <a:ext cx="2667000" cy="2667000"/>
          </a:xfrm>
          <a:prstGeom prst="ellipse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048750" y="476250"/>
            <a:ext cx="1905000" cy="1905000"/>
          </a:xfrm>
          <a:prstGeom prst="ellipse">
            <a:avLst/>
          </a:prstGeom>
          <a:solidFill>
            <a:schemeClr val="accent2">
              <a:alpha val="8000"/>
            </a:scheme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557217" y="217170"/>
            <a:ext cx="307756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JetBrains Mono"/>
                <a:ea typeface="Microsoft YaHei"/>
                <a:cs typeface="JetBrains Mono"/>
              </a:rPr>
              <a:t>补充命令与继续学习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71500" y="762000"/>
            <a:ext cx="5429250" cy="3429000"/>
            <a:chOff x="571500" y="762000"/>
            <a:chExt cx="5429250" cy="3429000"/>
          </a:xfrm>
        </p:grpSpPr>
        <p:sp>
          <p:nvSpPr>
            <p:cNvPr id="5" name="Rectangle 5"/>
            <p:cNvSpPr/>
            <p:nvPr/>
          </p:nvSpPr>
          <p:spPr>
            <a:xfrm>
              <a:off x="571500" y="762000"/>
              <a:ext cx="5429250" cy="34290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3356" y="1043940"/>
              <a:ext cx="2041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git whatchanged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52166" y="11249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提交历史及文件变化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5240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785" y="1631156"/>
              <a:ext cx="1210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whatchanged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24047" y="16473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显示提交及文件变化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9431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785" y="2050256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whatchanged -p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14547" y="20664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以补丁格式显示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3622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6785" y="2469356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whatchanged --since="2w"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76547" y="24855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两周以来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781300"/>
              <a:ext cx="5048250" cy="34290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6785" y="2888456"/>
              <a:ext cx="1549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JetBrains Mono"/>
                  <a:ea typeface="JetBrains Mono"/>
                  <a:cs typeface="JetBrains Mono"/>
                </a:rPr>
                <a:t>git whatchanged -n 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05047" y="2904649"/>
              <a:ext cx="4782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D99AE"/>
                  </a:solidFill>
                  <a:latin typeface="JetBrains Mono"/>
                  <a:ea typeface="Microsoft YaHei"/>
                  <a:cs typeface="JetBrains Mono"/>
                </a:rPr>
                <a:t>最近5次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7166" y="3506152"/>
              <a:ext cx="28164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Microsoft YaHei"/>
                  <a:cs typeface="JetBrains Mono"/>
                </a:rPr>
                <a:t>💡 whatchanged 比 log 更适合查看文件变化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91250" y="762000"/>
            <a:ext cx="5429250" cy="3429000"/>
            <a:chOff x="6191250" y="762000"/>
            <a:chExt cx="5429250" cy="3429000"/>
          </a:xfrm>
        </p:grpSpPr>
        <p:sp>
          <p:nvSpPr>
            <p:cNvPr id="22" name="Rectangle 22"/>
            <p:cNvSpPr/>
            <p:nvPr/>
          </p:nvSpPr>
          <p:spPr>
            <a:xfrm>
              <a:off x="6191250" y="762000"/>
              <a:ext cx="5429250" cy="34290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63106" y="1043940"/>
              <a:ext cx="1875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JetBrains Mono"/>
                  <a:ea typeface="Microsoft YaHei"/>
                  <a:cs typeface="JetBrains Mono"/>
                </a:rPr>
                <a:t>📚 学习路线建议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0" y="1524000"/>
              <a:ext cx="3048000" cy="476250"/>
            </a:xfrm>
            <a:prstGeom prst="roundRect">
              <a:avLst>
                <a:gd name="adj" fmla="val 2400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61404" y="1680210"/>
              <a:ext cx="911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JetBrains Mono"/>
                  <a:ea typeface="Microsoft YaHei"/>
                  <a:cs typeface="JetBrains Mono"/>
                </a:rPr>
                <a:t>1️⃣ 基础操作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14916" y="1696402"/>
              <a:ext cx="1657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JetBrains Mono"/>
                  <a:cs typeface="JetBrains Mono"/>
                </a:rPr>
                <a:t>init → add → commit → log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77000" y="2095500"/>
              <a:ext cx="3048000" cy="476250"/>
            </a:xfrm>
            <a:prstGeom prst="roundRect">
              <a:avLst>
                <a:gd name="adj" fmla="val 24000"/>
              </a:avLst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61404" y="2251710"/>
              <a:ext cx="911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JetBrains Mono"/>
                  <a:ea typeface="Microsoft YaHei"/>
                  <a:cs typeface="JetBrains Mono"/>
                </a:rPr>
                <a:t>2️⃣ 分支策略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14916" y="2267902"/>
              <a:ext cx="1841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JetBrains Mono"/>
                  <a:cs typeface="JetBrains Mono"/>
                </a:rPr>
                <a:t>branch → checkout → merge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77000" y="2667000"/>
              <a:ext cx="3048000" cy="476250"/>
            </a:xfrm>
            <a:prstGeom prst="roundRect">
              <a:avLst>
                <a:gd name="adj" fmla="val 24000"/>
              </a:avLst>
            </a:prstGeom>
            <a:solidFill>
              <a:schemeClr val="accent3">
                <a:alpha val="10000"/>
              </a:scheme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61404" y="2823210"/>
              <a:ext cx="911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JetBrains Mono"/>
                  <a:ea typeface="Microsoft YaHei"/>
                  <a:cs typeface="JetBrains Mono"/>
                </a:rPr>
                <a:t>3️⃣ 远程协作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14916" y="2839402"/>
              <a:ext cx="19330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JetBrains Mono"/>
                  <a:cs typeface="JetBrains Mono"/>
                </a:rPr>
                <a:t>remote → push → pull → fetch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77000" y="3238500"/>
              <a:ext cx="3048000" cy="476250"/>
            </a:xfrm>
            <a:prstGeom prst="roundRect">
              <a:avLst>
                <a:gd name="adj" fmla="val 2400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61404" y="3394710"/>
              <a:ext cx="911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JetBrains Mono"/>
                  <a:ea typeface="Microsoft YaHei"/>
                  <a:cs typeface="JetBrains Mono"/>
                </a:rPr>
                <a:t>4️⃣ 高级调试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14916" y="3410902"/>
              <a:ext cx="15372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JetBrains Mono"/>
                  <a:ea typeface="JetBrains Mono"/>
                  <a:cs typeface="JetBrains Mono"/>
                </a:rPr>
                <a:t>stash → reflog → blame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4476750"/>
            <a:ext cx="11049000" cy="1905000"/>
            <a:chOff x="571500" y="4476750"/>
            <a:chExt cx="11049000" cy="1905000"/>
          </a:xfrm>
        </p:grpSpPr>
        <p:sp>
          <p:nvSpPr>
            <p:cNvPr id="37" name="Rectangle 37"/>
            <p:cNvSpPr/>
            <p:nvPr/>
          </p:nvSpPr>
          <p:spPr>
            <a:xfrm>
              <a:off x="571500" y="4476750"/>
              <a:ext cx="11049000" cy="19050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98811" y="4756785"/>
              <a:ext cx="279437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FFFFF"/>
                  </a:solidFill>
                  <a:latin typeface="JetBrains Mono"/>
                  <a:ea typeface="Microsoft YaHei"/>
                  <a:cs typeface="JetBrains Mono"/>
                </a:rPr>
                <a:t>掌握这 30+ 命令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69486" y="53301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>
                      <a:alphaMod val="80000"/>
                    </a:srgbClr>
                  </a:solidFill>
                  <a:latin typeface="JetBrains Mono"/>
                  <a:ea typeface="Microsoft YaHei"/>
                  <a:cs typeface="JetBrains Mono"/>
                </a:rPr>
                <a:t>即可覆盖日常开发的绝大多数场景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67150" y="5855018"/>
              <a:ext cx="4457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>
                      <a:alphaMod val="60000"/>
                    </a:srgbClr>
                  </a:solidFill>
                  <a:latin typeface="JetBrains Mono"/>
                  <a:ea typeface="Microsoft YaHei"/>
                  <a:cs typeface="JetBrains Mono"/>
                </a:rPr>
                <a:t>持续练习 · 不断精进 · Git 是你最可靠的版本控制伙伴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173590" y="6514624"/>
            <a:ext cx="4518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rPr>
              <a:t>17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Git基本命令大全速查">
  <a:themeElements>
    <a:clrScheme name="Git基本命令大全速查">
      <a:dk1>
        <a:srgbClr val="2B2D42"/>
      </a:dk1>
      <a:lt1>
        <a:srgbClr val="F4F7FB"/>
      </a:lt1>
      <a:dk2>
        <a:srgbClr val="1F497D"/>
      </a:dk2>
      <a:lt2>
        <a:srgbClr val="FFFFFF"/>
      </a:lt2>
      <a:accent1>
        <a:srgbClr val="4361EE"/>
      </a:accent1>
      <a:accent2>
        <a:srgbClr val="06D6A0"/>
      </a:accent2>
      <a:accent3>
        <a:srgbClr val="FFB23C"/>
      </a:accent3>
      <a:accent4>
        <a:srgbClr val="4361EE"/>
      </a:accent4>
      <a:accent5>
        <a:srgbClr val="1E1E2E"/>
      </a:accent5>
      <a:accent6>
        <a:srgbClr val="F79646"/>
      </a:accent6>
      <a:hlink>
        <a:srgbClr val="06D6A0"/>
      </a:hlink>
      <a:folHlink>
        <a:srgbClr val="FFB23C"/>
      </a:folHlink>
    </a:clrScheme>
    <a:fontScheme name="Git基本命令大全速查">
      <a:majorFont>
        <a:latin typeface="思源黑体 Noto Sans SC"/>
        <a:ea typeface="Microsoft YaHei"/>
        <a:cs typeface="思源黑体 Noto Sans SC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Noto Sans SC"/>
        <a:ea typeface="Microsoft YaHei"/>
        <a:cs typeface="思源黑体 Noto Sans SC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it基本命令大全速查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Git基本命令大全速查">
  <a:themeElements>
    <a:clrScheme name="Git基本命令大全速查">
      <a:dk1>
        <a:srgbClr val="2B2D42"/>
      </a:dk1>
      <a:lt1>
        <a:srgbClr val="F4F7FB"/>
      </a:lt1>
      <a:dk2>
        <a:srgbClr val="1F497D"/>
      </a:dk2>
      <a:lt2>
        <a:srgbClr val="FFFFFF"/>
      </a:lt2>
      <a:accent1>
        <a:srgbClr val="4361EE"/>
      </a:accent1>
      <a:accent2>
        <a:srgbClr val="06D6A0"/>
      </a:accent2>
      <a:accent3>
        <a:srgbClr val="FFB23C"/>
      </a:accent3>
      <a:accent4>
        <a:srgbClr val="4361EE"/>
      </a:accent4>
      <a:accent5>
        <a:srgbClr val="1E1E2E"/>
      </a:accent5>
      <a:accent6>
        <a:srgbClr val="F79646"/>
      </a:accent6>
      <a:hlink>
        <a:srgbClr val="06D6A0"/>
      </a:hlink>
      <a:folHlink>
        <a:srgbClr val="FFB23C"/>
      </a:folHlink>
    </a:clrScheme>
    <a:fontScheme name="Git基本命令大全速查">
      <a:majorFont>
        <a:latin typeface="思源黑体 Noto Sans SC"/>
        <a:ea typeface="Microsoft YaHei"/>
        <a:cs typeface="思源黑体 Noto Sans SC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Noto Sans SC"/>
        <a:ea typeface="Microsoft YaHei"/>
        <a:cs typeface="思源黑体 Noto Sans SC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it基本命令大全速查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2026-08-02T13:54:55Z</dcterms:created>
  <dcterms:modified xsi:type="dcterms:W3CDTF">2026-08-02T13:54:55Z</dcterms:modified>
  <cp:category/>
  <cp:contentStatus/>
</cp:coreProperties>
</file>